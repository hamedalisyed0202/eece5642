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Easy</c:v>
                </c:pt>
              </c:strCache>
            </c:strRef>
          </c:tx>
          <c:spPr>
            <a:ln w="2540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RMSE</c:v>
                </c:pt>
                <c:pt idx="1">
                  <c:v>Drift Slope</c:v>
                </c:pt>
                <c:pt idx="2">
                  <c:v>Accum.Drift</c:v>
                </c:pt>
                <c:pt idx="3">
                  <c:v>Early Err</c:v>
                </c:pt>
                <c:pt idx="4">
                  <c:v>Late Err</c:v>
                </c:pt>
                <c:pt idx="5">
                  <c:v>Curvature</c:v>
                </c:pt>
                <c:pt idx="6">
                  <c:v>Entropy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0.12</c:v>
                </c:pt>
                <c:pt idx="1">
                  <c:v>0.14000000000000001</c:v>
                </c:pt>
                <c:pt idx="2">
                  <c:v>0.08</c:v>
                </c:pt>
                <c:pt idx="3">
                  <c:v>0.09</c:v>
                </c:pt>
                <c:pt idx="4">
                  <c:v>7.0000000000000007E-2</c:v>
                </c:pt>
                <c:pt idx="5">
                  <c:v>0.13</c:v>
                </c:pt>
                <c:pt idx="6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8D-4D03-9779-698D1BD838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RMSE</c:v>
                </c:pt>
                <c:pt idx="1">
                  <c:v>Drift Slope</c:v>
                </c:pt>
                <c:pt idx="2">
                  <c:v>Accum.Drift</c:v>
                </c:pt>
                <c:pt idx="3">
                  <c:v>Early Err</c:v>
                </c:pt>
                <c:pt idx="4">
                  <c:v>Late Err</c:v>
                </c:pt>
                <c:pt idx="5">
                  <c:v>Curvature</c:v>
                </c:pt>
                <c:pt idx="6">
                  <c:v>Entropy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0.41</c:v>
                </c:pt>
                <c:pt idx="1">
                  <c:v>0.18</c:v>
                </c:pt>
                <c:pt idx="2">
                  <c:v>0.35</c:v>
                </c:pt>
                <c:pt idx="3">
                  <c:v>0.38</c:v>
                </c:pt>
                <c:pt idx="4">
                  <c:v>0.4</c:v>
                </c:pt>
                <c:pt idx="5">
                  <c:v>0.48</c:v>
                </c:pt>
                <c:pt idx="6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8D-4D03-9779-698D1BD838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Hard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RMSE</c:v>
                </c:pt>
                <c:pt idx="1">
                  <c:v>Drift Slope</c:v>
                </c:pt>
                <c:pt idx="2">
                  <c:v>Accum.Drift</c:v>
                </c:pt>
                <c:pt idx="3">
                  <c:v>Early Err</c:v>
                </c:pt>
                <c:pt idx="4">
                  <c:v>Late Err</c:v>
                </c:pt>
                <c:pt idx="5">
                  <c:v>Curvature</c:v>
                </c:pt>
                <c:pt idx="6">
                  <c:v>Entropy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0.79</c:v>
                </c:pt>
                <c:pt idx="1">
                  <c:v>1</c:v>
                </c:pt>
                <c:pt idx="2">
                  <c:v>1</c:v>
                </c:pt>
                <c:pt idx="3">
                  <c:v>0.98</c:v>
                </c:pt>
                <c:pt idx="4">
                  <c:v>0.95</c:v>
                </c:pt>
                <c:pt idx="5">
                  <c:v>0.05</c:v>
                </c:pt>
                <c:pt idx="6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8D-4D03-9779-698D1BD838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chemeClr val="bg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Difficulty Score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37B-4A1B-9E0B-E7401733DF7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37B-4A1B-9E0B-E7401733DF7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37B-4A1B-9E0B-E7401733DF7D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37B-4A1B-9E0B-E7401733DF7D}"/>
              </c:ext>
            </c:extLst>
          </c:dPt>
          <c:dPt>
            <c:idx val="4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37B-4A1B-9E0B-E7401733DF7D}"/>
              </c:ext>
            </c:extLst>
          </c:dPt>
          <c:dPt>
            <c:idx val="5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37B-4A1B-9E0B-E7401733DF7D}"/>
              </c:ext>
            </c:extLst>
          </c:dPt>
          <c:dPt>
            <c:idx val="6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37B-4A1B-9E0B-E7401733DF7D}"/>
              </c:ext>
            </c:extLst>
          </c:dPt>
          <c:dPt>
            <c:idx val="7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37B-4A1B-9E0B-E7401733DF7D}"/>
              </c:ext>
            </c:extLst>
          </c:dPt>
          <c:dPt>
            <c:idx val="8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37B-4A1B-9E0B-E7401733DF7D}"/>
              </c:ext>
            </c:extLst>
          </c:dPt>
          <c:dPt>
            <c:idx val="9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37B-4A1B-9E0B-E7401733DF7D}"/>
              </c:ext>
            </c:extLst>
          </c:dPt>
          <c:dPt>
            <c:idx val="10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A37B-4A1B-9E0B-E7401733DF7D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6EDF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Seq 04</c:v>
                </c:pt>
                <c:pt idx="1">
                  <c:v>Seq 06</c:v>
                </c:pt>
                <c:pt idx="2">
                  <c:v>Seq 03</c:v>
                </c:pt>
                <c:pt idx="3">
                  <c:v>Seq 09</c:v>
                </c:pt>
                <c:pt idx="4">
                  <c:v>Seq 07</c:v>
                </c:pt>
                <c:pt idx="5">
                  <c:v>Seq 00</c:v>
                </c:pt>
                <c:pt idx="6">
                  <c:v>Seq 05</c:v>
                </c:pt>
                <c:pt idx="7">
                  <c:v>Seq 08</c:v>
                </c:pt>
                <c:pt idx="8">
                  <c:v>Seq 10</c:v>
                </c:pt>
                <c:pt idx="9">
                  <c:v>Seq 02</c:v>
                </c:pt>
                <c:pt idx="10">
                  <c:v>Seq 01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0.13700000000000001</c:v>
                </c:pt>
                <c:pt idx="1">
                  <c:v>0.17100000000000001</c:v>
                </c:pt>
                <c:pt idx="2">
                  <c:v>0.222</c:v>
                </c:pt>
                <c:pt idx="3">
                  <c:v>0.27100000000000002</c:v>
                </c:pt>
                <c:pt idx="4">
                  <c:v>0.35499999999999998</c:v>
                </c:pt>
                <c:pt idx="5">
                  <c:v>0.25800000000000001</c:v>
                </c:pt>
                <c:pt idx="6">
                  <c:v>0.27400000000000002</c:v>
                </c:pt>
                <c:pt idx="7">
                  <c:v>0.27600000000000002</c:v>
                </c:pt>
                <c:pt idx="8">
                  <c:v>0.33300000000000002</c:v>
                </c:pt>
                <c:pt idx="9">
                  <c:v>0.44400000000000001</c:v>
                </c:pt>
                <c:pt idx="10">
                  <c:v>0.79300000000000004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A37B-4A1B-9E0B-E7401733DF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036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855EE-4020-B6A2-CD88-83D705FF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42FA8-C705-4A6E-72C0-A4BFBAAE3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1B123-4BB0-7B17-AE47-167DF992B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ED828-F8F4-2741-6373-0FB5C41ED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38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01168"/>
            <a:ext cx="621792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 ·  EECE 5642 DATA VISUALIZATION 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5303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5303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BC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Profiling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74320" y="2542032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KITTI Odometry Sequences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312724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Difficulty Visualization &amp; Cluster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520440"/>
            <a:ext cx="41148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HAMED ALI 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777240"/>
            <a:ext cx="1261872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96012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158191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10528" y="1892808"/>
            <a:ext cx="1042416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0" y="777240"/>
            <a:ext cx="1261872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0" y="96012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772400" y="158191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82128" y="1892808"/>
            <a:ext cx="1042416" cy="0"/>
          </a:xfrm>
          <a:prstGeom prst="line">
            <a:avLst/>
          </a:prstGeom>
          <a:noFill/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1261872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237744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00800" y="299923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10528" y="3310128"/>
            <a:ext cx="1042416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0" y="2194560"/>
            <a:ext cx="1261872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0" y="237744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772400" y="299923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82128" y="3310128"/>
            <a:ext cx="1042416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SLAM?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Localization and Mapping — the core challenge in autonomous navigation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960120"/>
            <a:ext cx="8686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96012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🤖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05840" y="1033272"/>
            <a:ext cx="77724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SLAM answers: "Where am I?" and "What does the world around me look like?" — simultaneously, in real time, from noisy sensors.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28600" y="1993392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10312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" y="20848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🔄 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 Dependency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" y="2450592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map, you need to know where you are. But to know where you are, you need a map.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Formally: p(xₜ, m | z₁:ₜ, u₁:ₜ) — estimating pose and map jointly from sensor 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6008" y="1993392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3168" y="210312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11496" y="20848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📈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04688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Drift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450592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reading has noise. Small per-frame errors compound over time. A robot driving 2km can end up 100m from its true position.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PRIMARY difficulty metric in our analysis.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547872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6576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" y="36393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🔁 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" y="4005072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robot revisits a known location, SLAM corrects accumulated drift — recognizing landmarks. This is why urban sequences (turns, loops) have LOWER drift than straight highway routes.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01 has NO loop closure → 1,980m drift.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36008" y="3547872"/>
            <a:ext cx="429768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36576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11496" y="36393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🚗 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04688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4005072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is the backbone of every autonomous vehicle, drone, and mobile robot. Tesla Autopilot, Waymo, Boston Dynamics, Mars rovers — ALL rely on SLAM. Getting benchmarking right advances the entire field.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KITTI?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 important autonomous driving benchmark — and why researchers rely on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960120"/>
            <a:ext cx="4114800" cy="39502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960120"/>
            <a:ext cx="4114800" cy="34747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What Makes KITTI Special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" y="1417320"/>
            <a:ext cx="38862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Real-world complexity — not simulation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Diverse environments: urban, highway, campus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Standardized t_err / r_err evaluation protocol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Fair comparison across all published algorithms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Free &amp; open-access since 2012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Ground truth from GPS/IMU — not from vision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10,000+ papers cite KITTI (Google Scholar)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960120"/>
            <a:ext cx="4343400" cy="2267712"/>
          </a:xfrm>
          <a:prstGeom prst="rect">
            <a:avLst/>
          </a:prstGeom>
          <a:solidFill>
            <a:srgbClr val="11182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26280" y="960120"/>
            <a:ext cx="4343400" cy="347472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9601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Researchers Choose KITTI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1417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Year: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44768" y="1417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— Geiger et al., KIT, Germany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17465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Platform: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44768" y="174650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 Passat with full sensor suite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20756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Cameras: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44768" y="207568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grayscale, 10Hz, 1.4MP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2404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LiDAR: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44768" y="24048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Velodyne HDL-64E, 10Hz, 64 beams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27340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GPS/IMU: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44768" y="273405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— centimeter-level ground truth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3364992"/>
            <a:ext cx="434340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26280" y="3364992"/>
            <a:ext cx="4343400" cy="31089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17720" y="3364992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How Pose Files 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37490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= 1 frame = 12 numbers: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4023360"/>
            <a:ext cx="4069080" cy="594360"/>
          </a:xfrm>
          <a:prstGeom prst="rect">
            <a:avLst/>
          </a:prstGeom>
          <a:solidFill>
            <a:srgbClr val="0A0E1A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404164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 R R  Tx ]  [ R R R  Ty ]  [ R R R  Tz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R=rotation matrix · T=translation (X,Y,Z per frame)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benchmarking tables fail multi-metric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960120"/>
            <a:ext cx="86868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9601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❓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05840" y="1033272"/>
            <a:ext cx="7772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KITTI sequence is hardest — and WHY?"  ·  7 metrics × 11 sequences = 77 numbers. A table cannot answer this. Visualization can.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28600" y="1920240"/>
            <a:ext cx="283464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" y="20116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🔢 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" y="2377440"/>
            <a:ext cx="25146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sequences × 7 metrics = 77 numbers per comparison. Human working memory handles ~7 items. Tables create cognitive overload before any insight can form.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1920240"/>
            <a:ext cx="283464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20299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30168" y="20116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🔍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2336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Invisible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9272" y="2377440"/>
            <a:ext cx="25146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Easy/Medium/Hard groupings exist in the data — but no table can reveal them. Visualization with K-Means clustering makes them immediately legible.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920240"/>
            <a:ext cx="283464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20299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56248" y="20116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📊 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Undetectable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45352" y="2377440"/>
            <a:ext cx="25146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Accum. Drift and Late Error have r=0.95 correlation. A table never reveals this. The heatmap shows it as a single bright cell.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474720"/>
            <a:ext cx="283464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5844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" y="3566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⏱ 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 Hidden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3931920"/>
            <a:ext cx="25146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error grows early or late in a sequence changes algorithmic interpretation completely. This dimension is invisible in summary statistics.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54680" y="3474720"/>
            <a:ext cx="283464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35844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30168" y="3566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⚡ 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2336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Blend 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19272" y="3931920"/>
            <a:ext cx="25146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01 (0.793) and Seq 04 (0.137) differ by 5.8×. In a sorted column Seq 01 is just "the highest number." In a bar chart its exceptionality is unmistakable.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0760" y="3474720"/>
            <a:ext cx="283464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0" y="35844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56248" y="3566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🧩 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4944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Geometric Context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45352" y="3931920"/>
            <a:ext cx="25146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cannot show that Seq 01's high drift is caused by straight-line driving with zero turns. Trajectory plots reveal this physical cause instantly.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IN CONTEXT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data-driven field reaches its limits without visualization — here is why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960120"/>
            <a:ext cx="868680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96012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05840" y="1033272"/>
            <a:ext cx="7772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is not a reporting tool — it is the scientific bridge between raw data and human understanding, essential in every data-driven discipline.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28600" y="1847088"/>
            <a:ext cx="283464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95681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" y="19385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🤖 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" y="23042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curves, confusion matrices, feature importance — all invisible as raw numbers. Visualization reveals overfitting, bias, and model behavior in seconds.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1847088"/>
            <a:ext cx="283464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95681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30168" y="19385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👁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23360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9272" y="23042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boxes, attention maps, segmentation masks — the core outputs of CV models are inherently spatial. They MUST be visualized to be evaluated.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847088"/>
            <a:ext cx="283464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195681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56248" y="19385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📊 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45352" y="23042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Anscombe's Quartet proved it in 1973: identical summary statistics can describe completely different datasets. Plots reveal what numbers hide.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383280"/>
            <a:ext cx="283464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49300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" y="34747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🎮 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3840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trajectories, policy maps, value functions — understanding agent behavior requires animated trajectories and heatmaps, never just scalars.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54680" y="3383280"/>
            <a:ext cx="283464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349300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30168" y="34747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💬 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2336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/ LLMs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19272" y="3840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spaces, attention weights, token probability distributions — transformer internals only become interpretable through dimensionality reduction and heatmaps.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0760" y="3383280"/>
            <a:ext cx="283464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0" y="349300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56248" y="34747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🚗 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4944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SLAM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45352" y="3840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drift, map quality, loop closure events — this is OUR domain. Standard tables hide the structure that our visualizations expose.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goals — each addressing a gap in current benchmarking practice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024128"/>
            <a:ext cx="2834640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13385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" y="11155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📐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133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Difficulty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" y="1481328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7 heterogeneous metrics from raw KITTI pose files — RMSE, drift slope, accumulated drift, early/late error, curvature, entropy — no estimated trajectory required.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1024128"/>
            <a:ext cx="2834640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13385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30168" y="11155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🔵 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1133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into Difficulty Tiers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9272" y="1481328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(k=3) to objectively separate sequences into Easy, Medium, Hard tiers. Validate with silhouette coefficient ≈ 0.61, optimal over k=2–5.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024128"/>
            <a:ext cx="2834640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113385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56248" y="11155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📈 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1133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Hidden Patterns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45352" y="1481328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5 complementary visualizations each revealing one finding invisible in tables: radar, heatmap, PCA scatter, ranked bars, runtime scatter.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035808"/>
            <a:ext cx="2834640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14553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" y="31272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🔬 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for Visual Analytics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" y="3493008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with Anscombe's Quartet logic that 4 of 6 key benchmarking questions are unanswerable from tabular data. Visualization is science, not decoration.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3035808"/>
            <a:ext cx="2834640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0" y="314553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30168" y="31272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✅ 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023360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Metric Set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19272" y="3493008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via PCA that 7 metrics explain 94.3% of difficulty variance in 3 components — proving the feature set is complete and minimally redundant.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3035808"/>
            <a:ext cx="2834640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0" y="314553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56248" y="31272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🌍 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49440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Transferable Tools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45352" y="3493008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open-source Python pipeline + interactive HTML dashboard applicable to EuRoC, TUM-RGBD, or any ground-truth pose dataset worldwide.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KITTI sequences — real ground-truth poses from instrumented vehicle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32004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3200400" cy="34747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9875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Sensor Suite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" y="1417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Cameras: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72768" y="1417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grayscale, 1.4MP, 10Hz, B=0.54m baseline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1819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LiDAR: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18196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Velodyne HDL-64E, 64 beams, 10Hz, 360°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2219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GPS/IMU: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72768" y="22219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RTK-GPS ±2cm accuracy — centimeter ground truth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26243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🚘 Vehicle: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72768" y="26243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 Passat, up to 90 km/h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30266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Sequences: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72768" y="30266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training (labeled 00–10)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Total: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72768" y="3429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22,202 frames total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38313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Format: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72768" y="38313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3×4 SE(3) matrix per frame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" y="4233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GT Method: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72768" y="42336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GPS/LiDAR/IMU fusion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987552"/>
            <a:ext cx="530352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11880" y="987552"/>
            <a:ext cx="5303520" cy="347472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03320" y="9875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Frames &amp; Difficulty — Real Computed Values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49040" y="14081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14081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49440" y="14081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18120" y="14081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0" y="1700784"/>
            <a:ext cx="5212080" cy="29260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49040" y="17190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17190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4,541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49440" y="1719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818120" y="17190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0" y="2002536"/>
            <a:ext cx="5212080" cy="29260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49040" y="2020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01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2020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49440" y="20208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818120" y="2020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0" y="2304288"/>
            <a:ext cx="5212080" cy="29260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749040" y="23225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0" y="23225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4,661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49440" y="23225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818120" y="23225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57600" y="2606040"/>
            <a:ext cx="5212080" cy="29260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749040" y="2624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03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54880" y="2624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49440" y="26243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0.222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818120" y="2624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0" y="2907792"/>
            <a:ext cx="5212080" cy="29260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749040" y="2926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04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54880" y="2926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949440" y="2926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0.137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818120" y="2926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657600" y="3209544"/>
            <a:ext cx="5212080" cy="29260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749040" y="3227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754880" y="3227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2,761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949440" y="32278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0.274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818120" y="3227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657600" y="3511296"/>
            <a:ext cx="5212080" cy="29260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749040" y="35295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06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754880" y="35295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1,101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949440" y="35295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0.171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818120" y="35295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57600" y="3813048"/>
            <a:ext cx="5212080" cy="29260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749040" y="38313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07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754880" y="38313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1,101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949440" y="3831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0.355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818120" y="38313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0" y="4114800"/>
            <a:ext cx="5212080" cy="29260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749040" y="41330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08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4754880" y="41330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4,071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949440" y="41330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7818120" y="41330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657600" y="4416552"/>
            <a:ext cx="5212080" cy="29260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749040" y="4434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09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4754880" y="4434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1,591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949440" y="4434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0.271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818120" y="4434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657600" y="4718304"/>
            <a:ext cx="5212080" cy="29260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374904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10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475488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6949440" y="4736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0.333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754880" y="4663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Frames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903720" y="4663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831160" y="4928616"/>
            <a:ext cx="128016" cy="12801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3959176" y="4896612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(3 seqs)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458968" y="4928616"/>
            <a:ext cx="128016" cy="12801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5614416" y="4896612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(7 seqs)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095744" y="4937759"/>
            <a:ext cx="128016" cy="12801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223760" y="491490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(1 seq)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pipeline: raw poses → metrics → clusters → visualizations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1719072" cy="384048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1752" y="9875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Load Poses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371600"/>
            <a:ext cx="1719072" cy="3182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5087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📂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" y="2121408"/>
            <a:ext cx="15361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KITTI .txt files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3×4 SE(3) matrices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XYZ translation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positions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47672" y="2487168"/>
            <a:ext cx="4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4535424"/>
            <a:ext cx="1719072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53542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[R|t]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65960" y="987552"/>
            <a:ext cx="1719072" cy="384048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39112" y="9875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7 Metrics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65960" y="1371600"/>
            <a:ext cx="1719072" cy="3182112"/>
          </a:xfrm>
          <a:prstGeom prst="rect">
            <a:avLst/>
          </a:prstGeom>
          <a:solidFill>
            <a:srgbClr val="11182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15087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57400" y="2121408"/>
            <a:ext cx="15361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Drift Slope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Accum. Drift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+ Late Error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· Entropy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85032" y="2487168"/>
            <a:ext cx="4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44AD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65960" y="4535424"/>
            <a:ext cx="1719072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11680" y="453542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κ, H, σ(Δt)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03320" y="987552"/>
            <a:ext cx="1719072" cy="384048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76472" y="9875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Normalize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03320" y="1371600"/>
            <a:ext cx="1719072" cy="3182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49040" y="15087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⚖️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794760" y="2121408"/>
            <a:ext cx="15361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→ [0,1]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weighting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Unit-independent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22392" y="2487168"/>
            <a:ext cx="4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03320" y="4535424"/>
            <a:ext cx="1719072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49040" y="453542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m̂=(m−min)/(max−min)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0680" y="987552"/>
            <a:ext cx="1719072" cy="38404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13832" y="9875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K-Means k=3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40680" y="1371600"/>
            <a:ext cx="1719072" cy="3182112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0" y="15087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🔵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532120" y="2121408"/>
            <a:ext cx="15361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Medium / Hard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random restarts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seed=42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≈ 0.61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59752" y="2487168"/>
            <a:ext cx="4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40680" y="4535424"/>
            <a:ext cx="1719072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0" y="453542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 Σ||x−μ||²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78040" y="987552"/>
            <a:ext cx="1719072" cy="38404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51192" y="9875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Visualize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78040" y="1371600"/>
            <a:ext cx="1719072" cy="3182112"/>
          </a:xfrm>
          <a:prstGeom prst="rect">
            <a:avLst/>
          </a:prstGeom>
          <a:solidFill>
            <a:srgbClr val="111827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23760" y="15087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📊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7269480" y="2121408"/>
            <a:ext cx="15361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· Heatmap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PCA Scatter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Bars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Scatter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178040" y="4535424"/>
            <a:ext cx="1719072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223760" y="453542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charts × 1 insight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0312" y="4937760"/>
            <a:ext cx="868680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46888" y="494690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Algorithm-agnostic: works with ANY ground-truth pose dataset — EuRoC · TUM-RGBD · Newer College · Custom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 — RADAR CHART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7 metrics for all 3 clusters simultaneously — impossible from a 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015849220"/>
              </p:ext>
            </p:extLst>
          </p:nvPr>
        </p:nvGraphicFramePr>
        <p:xfrm>
          <a:off x="228600" y="960120"/>
          <a:ext cx="5029200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468112" y="960120"/>
            <a:ext cx="3447288" cy="1261872"/>
          </a:xfrm>
          <a:prstGeom prst="rect">
            <a:avLst/>
          </a:prstGeom>
          <a:solidFill>
            <a:srgbClr val="111827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68112" y="960120"/>
            <a:ext cx="3447288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59552" y="960120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Easy Cluster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59552" y="1280160"/>
            <a:ext cx="3264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Uniformly flat across all 7 axes — all metrics near zero. Short paths (Seq 03, 04, 06) with simple geometry and low drift. Ideal for algorithm development and debugging.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68112" y="2331720"/>
            <a:ext cx="3447288" cy="1261872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68112" y="2331720"/>
            <a:ext cx="3447288" cy="2743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59552" y="2331720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Cluster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59552" y="2651760"/>
            <a:ext cx="3264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polygon with elevated entropy from urban turns and diverse headings. 7 sequences span 0.258–0.444. High heterogeneity suggests further sub-clustering may be valuable.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68112" y="3703320"/>
            <a:ext cx="3447288" cy="1261872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68112" y="3703320"/>
            <a:ext cx="3447288" cy="274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59552" y="3703320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Hard Cluster — Seq 01 ONLY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59552" y="4023360"/>
            <a:ext cx="3264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asymmetric profile: maximum on Drift Slope, Accum. Drift, Early/Late Error, RMSE — but near-ZERO on Curvature (0.005). Physical signature of straight highway: no turns = no loop closure = 1,980m drift.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09700" y="4818888"/>
            <a:ext cx="3447288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201140" y="4835417"/>
            <a:ext cx="3264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This single chart replaces 3 table columns and reveals cluster structure the table hides.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2 — CORRELATION HEATMAP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between all metric pairs — discovering redundancy and independence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-246888" y="1389888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-246888" y="1865376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-246888" y="2340864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-246888" y="281635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-246888" y="3291840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-246888" y="3767328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-246888" y="4242816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77316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" y="477316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71016" y="477316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46504" y="477316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21992" y="477316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7480" y="477316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72968" y="477316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1389888"/>
            <a:ext cx="475488" cy="475488"/>
          </a:xfrm>
          <a:prstGeom prst="rect">
            <a:avLst/>
          </a:prstGeom>
          <a:solidFill>
            <a:srgbClr val="2980B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95528" y="1389888"/>
            <a:ext cx="475488" cy="475488"/>
          </a:xfrm>
          <a:prstGeom prst="rect">
            <a:avLst/>
          </a:prstGeom>
          <a:solidFill>
            <a:srgbClr val="1C3B5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5528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71016" y="1389888"/>
            <a:ext cx="475488" cy="475488"/>
          </a:xfrm>
          <a:prstGeom prst="rect">
            <a:avLst/>
          </a:prstGeom>
          <a:solidFill>
            <a:srgbClr val="225A80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71016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746504" y="1389888"/>
            <a:ext cx="475488" cy="475488"/>
          </a:xfrm>
          <a:prstGeom prst="rect">
            <a:avLst/>
          </a:prstGeom>
          <a:solidFill>
            <a:srgbClr val="21547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46504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21992" y="1389888"/>
            <a:ext cx="475488" cy="475488"/>
          </a:xfrm>
          <a:prstGeom prst="rect">
            <a:avLst/>
          </a:prstGeom>
          <a:solidFill>
            <a:srgbClr val="23628C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21992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97480" y="1389888"/>
            <a:ext cx="475488" cy="475488"/>
          </a:xfrm>
          <a:prstGeom prst="rect">
            <a:avLst/>
          </a:prstGeom>
          <a:solidFill>
            <a:srgbClr val="182734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97480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172968" y="1389888"/>
            <a:ext cx="475488" cy="475488"/>
          </a:xfrm>
          <a:prstGeom prst="rect">
            <a:avLst/>
          </a:prstGeom>
          <a:solidFill>
            <a:srgbClr val="1C384E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72968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0.29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1865376"/>
            <a:ext cx="475488" cy="475488"/>
          </a:xfrm>
          <a:prstGeom prst="rect">
            <a:avLst/>
          </a:prstGeom>
          <a:solidFill>
            <a:srgbClr val="1C3B5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040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95528" y="1865376"/>
            <a:ext cx="475488" cy="475488"/>
          </a:xfrm>
          <a:prstGeom prst="rect">
            <a:avLst/>
          </a:prstGeom>
          <a:solidFill>
            <a:srgbClr val="2980B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5528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271016" y="1865376"/>
            <a:ext cx="475488" cy="475488"/>
          </a:xfrm>
          <a:prstGeom prst="rect">
            <a:avLst/>
          </a:prstGeom>
          <a:solidFill>
            <a:srgbClr val="256A98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71016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746504" y="1865376"/>
            <a:ext cx="475488" cy="475488"/>
          </a:xfrm>
          <a:prstGeom prst="rect">
            <a:avLst/>
          </a:prstGeom>
          <a:solidFill>
            <a:srgbClr val="1C3C54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746504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21992" y="1865376"/>
            <a:ext cx="475488" cy="475488"/>
          </a:xfrm>
          <a:prstGeom prst="rect">
            <a:avLst/>
          </a:prstGeom>
          <a:solidFill>
            <a:srgbClr val="256A98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21992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697480" y="1865376"/>
            <a:ext cx="475488" cy="475488"/>
          </a:xfrm>
          <a:prstGeom prst="rect">
            <a:avLst/>
          </a:prstGeom>
          <a:solidFill>
            <a:srgbClr val="4C28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697480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-0.26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172968" y="1865376"/>
            <a:ext cx="475488" cy="475488"/>
          </a:xfrm>
          <a:prstGeom prst="rect">
            <a:avLst/>
          </a:prstGeom>
          <a:solidFill>
            <a:srgbClr val="98393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172968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-0.62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2340864"/>
            <a:ext cx="475488" cy="475488"/>
          </a:xfrm>
          <a:prstGeom prst="rect">
            <a:avLst/>
          </a:prstGeom>
          <a:solidFill>
            <a:srgbClr val="225A80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0040" y="2340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95528" y="2340864"/>
            <a:ext cx="475488" cy="475488"/>
          </a:xfrm>
          <a:prstGeom prst="rect">
            <a:avLst/>
          </a:prstGeom>
          <a:solidFill>
            <a:srgbClr val="256A98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95528" y="2340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271016" y="2340864"/>
            <a:ext cx="475488" cy="475488"/>
          </a:xfrm>
          <a:prstGeom prst="rect">
            <a:avLst/>
          </a:prstGeom>
          <a:solidFill>
            <a:srgbClr val="2980B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271016" y="2340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746504" y="2340864"/>
            <a:ext cx="475488" cy="475488"/>
          </a:xfrm>
          <a:prstGeom prst="rect">
            <a:avLst/>
          </a:prstGeom>
          <a:solidFill>
            <a:srgbClr val="246895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746504" y="2340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221992" y="2340864"/>
            <a:ext cx="475488" cy="475488"/>
          </a:xfrm>
          <a:prstGeom prst="rect">
            <a:avLst/>
          </a:prstGeom>
          <a:solidFill>
            <a:srgbClr val="287BB1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221992" y="2340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221992" y="235915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700"/>
                </a:solidFill>
              </a:rPr>
              <a:t>★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697480" y="2340864"/>
            <a:ext cx="475488" cy="475488"/>
          </a:xfrm>
          <a:prstGeom prst="rect">
            <a:avLst/>
          </a:prstGeom>
          <a:solidFill>
            <a:srgbClr val="572A2A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697480" y="2340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-0.31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172968" y="2340864"/>
            <a:ext cx="475488" cy="475488"/>
          </a:xfrm>
          <a:prstGeom prst="rect">
            <a:avLst/>
          </a:prstGeom>
          <a:solidFill>
            <a:srgbClr val="3C242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172968" y="2340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-0.18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20040" y="2816352"/>
            <a:ext cx="475488" cy="475488"/>
          </a:xfrm>
          <a:prstGeom prst="rect">
            <a:avLst/>
          </a:prstGeom>
          <a:solidFill>
            <a:srgbClr val="21547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20040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95528" y="2816352"/>
            <a:ext cx="475488" cy="475488"/>
          </a:xfrm>
          <a:prstGeom prst="rect">
            <a:avLst/>
          </a:prstGeom>
          <a:solidFill>
            <a:srgbClr val="1C3C54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95528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271016" y="2816352"/>
            <a:ext cx="475488" cy="475488"/>
          </a:xfrm>
          <a:prstGeom prst="rect">
            <a:avLst/>
          </a:prstGeom>
          <a:solidFill>
            <a:srgbClr val="246895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271016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746504" y="2816352"/>
            <a:ext cx="475488" cy="475488"/>
          </a:xfrm>
          <a:prstGeom prst="rect">
            <a:avLst/>
          </a:prstGeom>
          <a:solidFill>
            <a:srgbClr val="2980B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746504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221992" y="2816352"/>
            <a:ext cx="475488" cy="475488"/>
          </a:xfrm>
          <a:prstGeom prst="rect">
            <a:avLst/>
          </a:prstGeom>
          <a:solidFill>
            <a:srgbClr val="256C9B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221992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697480" y="2816352"/>
            <a:ext cx="475488" cy="475488"/>
          </a:xfrm>
          <a:prstGeom prst="rect">
            <a:avLst/>
          </a:prstGeom>
          <a:solidFill>
            <a:srgbClr val="552A2A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697480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-0.30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172968" y="2816352"/>
            <a:ext cx="475488" cy="475488"/>
          </a:xfrm>
          <a:prstGeom prst="rect">
            <a:avLst/>
          </a:prstGeom>
          <a:solidFill>
            <a:srgbClr val="1D3F58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172968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20040" y="3291840"/>
            <a:ext cx="475488" cy="475488"/>
          </a:xfrm>
          <a:prstGeom prst="rect">
            <a:avLst/>
          </a:prstGeom>
          <a:solidFill>
            <a:srgbClr val="23628C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20040" y="3291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95528" y="3291840"/>
            <a:ext cx="475488" cy="475488"/>
          </a:xfrm>
          <a:prstGeom prst="rect">
            <a:avLst/>
          </a:prstGeom>
          <a:solidFill>
            <a:srgbClr val="256A98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95528" y="3291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271016" y="3291840"/>
            <a:ext cx="475488" cy="475488"/>
          </a:xfrm>
          <a:prstGeom prst="rect">
            <a:avLst/>
          </a:prstGeom>
          <a:solidFill>
            <a:srgbClr val="287BB1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271016" y="3291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271016" y="3310128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700"/>
                </a:solidFill>
              </a:rPr>
              <a:t>★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746504" y="3291840"/>
            <a:ext cx="475488" cy="475488"/>
          </a:xfrm>
          <a:prstGeom prst="rect">
            <a:avLst/>
          </a:prstGeom>
          <a:solidFill>
            <a:srgbClr val="256C9B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746504" y="3291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221992" y="3291840"/>
            <a:ext cx="475488" cy="475488"/>
          </a:xfrm>
          <a:prstGeom prst="rect">
            <a:avLst/>
          </a:prstGeom>
          <a:solidFill>
            <a:srgbClr val="2980B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221992" y="3291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697480" y="3291840"/>
            <a:ext cx="475488" cy="475488"/>
          </a:xfrm>
          <a:prstGeom prst="rect">
            <a:avLst/>
          </a:prstGeom>
          <a:solidFill>
            <a:srgbClr val="53292A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697480" y="3291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-0.29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172968" y="3291840"/>
            <a:ext cx="475488" cy="475488"/>
          </a:xfrm>
          <a:prstGeom prst="rect">
            <a:avLst/>
          </a:prstGeom>
          <a:solidFill>
            <a:srgbClr val="231E24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172968" y="3291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-0.06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20040" y="3767328"/>
            <a:ext cx="475488" cy="475488"/>
          </a:xfrm>
          <a:prstGeom prst="rect">
            <a:avLst/>
          </a:prstGeom>
          <a:solidFill>
            <a:srgbClr val="182734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20040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95528" y="3767328"/>
            <a:ext cx="475488" cy="475488"/>
          </a:xfrm>
          <a:prstGeom prst="rect">
            <a:avLst/>
          </a:prstGeom>
          <a:solidFill>
            <a:srgbClr val="4C28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795528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-0.26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271016" y="3767328"/>
            <a:ext cx="475488" cy="475488"/>
          </a:xfrm>
          <a:prstGeom prst="rect">
            <a:avLst/>
          </a:prstGeom>
          <a:solidFill>
            <a:srgbClr val="572A2A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1271016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-0.31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746504" y="3767328"/>
            <a:ext cx="475488" cy="475488"/>
          </a:xfrm>
          <a:prstGeom prst="rect">
            <a:avLst/>
          </a:prstGeom>
          <a:solidFill>
            <a:srgbClr val="552A2A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746504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-0.30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221992" y="3767328"/>
            <a:ext cx="475488" cy="475488"/>
          </a:xfrm>
          <a:prstGeom prst="rect">
            <a:avLst/>
          </a:prstGeom>
          <a:solidFill>
            <a:srgbClr val="53292A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2221992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-0.29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697480" y="3767328"/>
            <a:ext cx="475488" cy="475488"/>
          </a:xfrm>
          <a:prstGeom prst="rect">
            <a:avLst/>
          </a:prstGeom>
          <a:solidFill>
            <a:srgbClr val="2980B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697480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172968" y="3767328"/>
            <a:ext cx="475488" cy="475488"/>
          </a:xfrm>
          <a:prstGeom prst="rect">
            <a:avLst/>
          </a:prstGeom>
          <a:solidFill>
            <a:srgbClr val="1B374C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172968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0.28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20040" y="4242816"/>
            <a:ext cx="475488" cy="475488"/>
          </a:xfrm>
          <a:prstGeom prst="rect">
            <a:avLst/>
          </a:prstGeom>
          <a:solidFill>
            <a:srgbClr val="1C384E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320040" y="4242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0.29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795528" y="4242816"/>
            <a:ext cx="475488" cy="475488"/>
          </a:xfrm>
          <a:prstGeom prst="rect">
            <a:avLst/>
          </a:prstGeom>
          <a:solidFill>
            <a:srgbClr val="98393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95528" y="4242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-0.62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1271016" y="4242816"/>
            <a:ext cx="475488" cy="475488"/>
          </a:xfrm>
          <a:prstGeom prst="rect">
            <a:avLst/>
          </a:prstGeom>
          <a:solidFill>
            <a:srgbClr val="3C242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1271016" y="4242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-0.18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746504" y="4242816"/>
            <a:ext cx="475488" cy="475488"/>
          </a:xfrm>
          <a:prstGeom prst="rect">
            <a:avLst/>
          </a:prstGeom>
          <a:solidFill>
            <a:srgbClr val="1D3F58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1746504" y="4242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221992" y="4242816"/>
            <a:ext cx="475488" cy="475488"/>
          </a:xfrm>
          <a:prstGeom prst="rect">
            <a:avLst/>
          </a:prstGeom>
          <a:solidFill>
            <a:srgbClr val="231E24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2221992" y="4242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-0.06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697480" y="4242816"/>
            <a:ext cx="475488" cy="475488"/>
          </a:xfrm>
          <a:prstGeom prst="rect">
            <a:avLst/>
          </a:prstGeom>
          <a:solidFill>
            <a:srgbClr val="1B374C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2697480" y="4242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0.28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3172968" y="4242816"/>
            <a:ext cx="475488" cy="475488"/>
          </a:xfrm>
          <a:prstGeom prst="rect">
            <a:avLst/>
          </a:prstGeom>
          <a:solidFill>
            <a:srgbClr val="2980B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3172968" y="4242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3977640" y="987552"/>
            <a:ext cx="4956048" cy="1261872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4069080" y="10789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0.95</a:t>
            </a:r>
            <a:endParaRPr lang="en-US" sz="1800" dirty="0"/>
          </a:p>
        </p:txBody>
      </p:sp>
      <p:sp>
        <p:nvSpPr>
          <p:cNvPr id="126" name="Shape 124"/>
          <p:cNvSpPr/>
          <p:nvPr/>
        </p:nvSpPr>
        <p:spPr>
          <a:xfrm>
            <a:off x="5074920" y="1097280"/>
            <a:ext cx="914400" cy="2743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5074920" y="1097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6053328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Accum. Drift ↔ Late Error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4069080" y="144475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Near-REDUNDANT — same phenomenon captured twice. One metric can be dropped from future benchmarks without information loss.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3977640" y="2340864"/>
            <a:ext cx="4956048" cy="1261872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4069080" y="243230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−0.62</a:t>
            </a:r>
            <a:endParaRPr lang="en-US" sz="1800" dirty="0"/>
          </a:p>
        </p:txBody>
      </p:sp>
      <p:sp>
        <p:nvSpPr>
          <p:cNvPr id="132" name="Shape 130"/>
          <p:cNvSpPr/>
          <p:nvPr/>
        </p:nvSpPr>
        <p:spPr>
          <a:xfrm>
            <a:off x="5074920" y="2450592"/>
            <a:ext cx="914400" cy="2743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5074920" y="2450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INSIGHT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6053328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Slope ↔ Entropy</a:t>
            </a:r>
            <a:endParaRPr lang="en-US" sz="1100" dirty="0"/>
          </a:p>
        </p:txBody>
      </p:sp>
      <p:sp>
        <p:nvSpPr>
          <p:cNvPr id="135" name="Text 133"/>
          <p:cNvSpPr/>
          <p:nvPr/>
        </p:nvSpPr>
        <p:spPr>
          <a:xfrm>
            <a:off x="4069080" y="2798064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— urban routes with diverse headings self-correct via near-loop-closure events, reducing linear drift accumulation.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3977640" y="3694176"/>
            <a:ext cx="4956048" cy="1261872"/>
          </a:xfrm>
          <a:prstGeom prst="rect">
            <a:avLst/>
          </a:prstGeom>
          <a:solidFill>
            <a:srgbClr val="111827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4069080" y="37856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0.12</a:t>
            </a:r>
            <a:endParaRPr lang="en-US" sz="1800" dirty="0"/>
          </a:p>
        </p:txBody>
      </p:sp>
      <p:sp>
        <p:nvSpPr>
          <p:cNvPr id="138" name="Shape 136"/>
          <p:cNvSpPr/>
          <p:nvPr/>
        </p:nvSpPr>
        <p:spPr>
          <a:xfrm>
            <a:off x="5074920" y="3803904"/>
            <a:ext cx="91440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5074920" y="38039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BOTH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6053328" y="3803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↔ Curvature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4069080" y="415137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INDEPENDENT — these metrics capture orthogonal difficulty dimensions. Both must be retained for a complete evaluation.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3977640" y="5074920"/>
            <a:ext cx="4956048" cy="0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-320040" y="4942332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                   -0.5                    0                   +0.5                  +1.0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3 — DIFFICULTY RANKING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scores ranked — revealing the shocking gap at the top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0" name="Chart 0"/>
          <p:cNvGraphicFramePr/>
          <p:nvPr/>
        </p:nvGraphicFramePr>
        <p:xfrm>
          <a:off x="228600" y="960120"/>
          <a:ext cx="53949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806440" y="960120"/>
            <a:ext cx="3108960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806440" y="960120"/>
            <a:ext cx="3108960" cy="29260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97880" y="960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Seq 01: CATEGORICAL OUTLIER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7880" y="1254004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0.793 — the ONLY Hard sequence.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next: 0.349 (&gt; entire Medium spread 0.186).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straight highway, zero turns, zero loop closure.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"just hard" — a different category of issue.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06440" y="2377440"/>
            <a:ext cx="3108960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806440" y="2377440"/>
            <a:ext cx="3108960" cy="29260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97880" y="23774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Medium: Wide Spread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97880" y="2715768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sequences, scores 0.258–0.444.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02 (0.444) nearly 3× harder than Seq 00 (0.258).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heterogeneity suggests further sub-clustering.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"Medium" is a heterogeneous group.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06440" y="3794760"/>
            <a:ext cx="310896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806440" y="3794760"/>
            <a:ext cx="3108960" cy="2926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97880" y="37947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Easy: Tight Cluster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97880" y="413308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sequences, scores 0.137–0.222.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04 = simplest: 271 frames, low entropy.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01 is 5.8× harder than Seq 04.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Ideal for algorithm development.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4 &amp; 5 — PCA + TEMPORAL DYNAMICS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cluster separation &amp; error growth patterns across all sequences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7251EB4-C23A-3140-ED74-069ED93E4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72" y="991685"/>
            <a:ext cx="3579368" cy="380548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60EB339-5A16-25C1-5748-479B7D939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49" y="1170432"/>
            <a:ext cx="5223278" cy="34479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13666-2690-B541-EF93-2D49E1F9A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D177A4-592C-A707-EF38-3AF486045F27}"/>
              </a:ext>
            </a:extLst>
          </p:cNvPr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338561-0DBF-E183-3625-6A43A43EA04E}"/>
              </a:ext>
            </a:extLst>
          </p:cNvPr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72645C-0DC7-C4E3-F7AD-9F09CEDAED38}"/>
              </a:ext>
            </a:extLst>
          </p:cNvPr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1D8084-BA9D-4203-58CA-CE136DE9103E}"/>
              </a:ext>
            </a:extLst>
          </p:cNvPr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4 &amp; 5 — PCA + TEMPORAL DYNAMICS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C5B8CE-BF57-C851-47DE-774D0344AA0B}"/>
              </a:ext>
            </a:extLst>
          </p:cNvPr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694448-E9B2-4605-53AE-D8C8D5FA6157}"/>
              </a:ext>
            </a:extLst>
          </p:cNvPr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cluster separation &amp; error growth patterns across all sequences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3B5C715-3C6E-349D-02A3-EB9A65F50237}"/>
              </a:ext>
            </a:extLst>
          </p:cNvPr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3770F94-2D6A-D928-401F-AEE81285614D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983C71F-1B5F-296F-8078-B60A6CEA9DA8}"/>
              </a:ext>
            </a:extLst>
          </p:cNvPr>
          <p:cNvSpPr/>
          <p:nvPr/>
        </p:nvSpPr>
        <p:spPr>
          <a:xfrm>
            <a:off x="228600" y="960120"/>
            <a:ext cx="4251960" cy="3200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E190C2C-1466-F51F-2C84-A7363B57A8AF}"/>
              </a:ext>
            </a:extLst>
          </p:cNvPr>
          <p:cNvSpPr/>
          <p:nvPr/>
        </p:nvSpPr>
        <p:spPr>
          <a:xfrm>
            <a:off x="320040" y="960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 PCA — 94.3% Variance Explained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8D7C680-626D-EDB6-D5B1-E4E5E00F02CC}"/>
              </a:ext>
            </a:extLst>
          </p:cNvPr>
          <p:cNvSpPr/>
          <p:nvPr/>
        </p:nvSpPr>
        <p:spPr>
          <a:xfrm>
            <a:off x="228600" y="1325880"/>
            <a:ext cx="42519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C03301-4AF7-BA26-A021-2416F03FBBA7}"/>
              </a:ext>
            </a:extLst>
          </p:cNvPr>
          <p:cNvSpPr/>
          <p:nvPr/>
        </p:nvSpPr>
        <p:spPr>
          <a:xfrm>
            <a:off x="320040" y="143560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A8BB7B6-D9E5-B226-BE31-4AE073AE642F}"/>
              </a:ext>
            </a:extLst>
          </p:cNvPr>
          <p:cNvSpPr/>
          <p:nvPr/>
        </p:nvSpPr>
        <p:spPr>
          <a:xfrm>
            <a:off x="896112" y="14173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53.9%</a:t>
            </a:r>
            <a:endParaRPr lang="en-US" sz="2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756478B-01CA-6122-D667-A5523CF1A73B}"/>
              </a:ext>
            </a:extLst>
          </p:cNvPr>
          <p:cNvSpPr/>
          <p:nvPr/>
        </p:nvSpPr>
        <p:spPr>
          <a:xfrm>
            <a:off x="1828800" y="1417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Loads: Drift Slope · Accum. Drift · Late Error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PRIMARY difficulty axis</a:t>
            </a:r>
            <a:endParaRPr lang="en-US" sz="9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5194CBE-2985-0510-E89F-57E6F3640F85}"/>
              </a:ext>
            </a:extLst>
          </p:cNvPr>
          <p:cNvSpPr/>
          <p:nvPr/>
        </p:nvSpPr>
        <p:spPr>
          <a:xfrm>
            <a:off x="228600" y="2514600"/>
            <a:ext cx="42519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DDD0850-BB78-3DD1-E2C8-C71C7DA89813}"/>
              </a:ext>
            </a:extLst>
          </p:cNvPr>
          <p:cNvSpPr/>
          <p:nvPr/>
        </p:nvSpPr>
        <p:spPr>
          <a:xfrm>
            <a:off x="320040" y="262432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184E7A3-3BB4-FBF0-C645-B1C6030E2ED3}"/>
              </a:ext>
            </a:extLst>
          </p:cNvPr>
          <p:cNvSpPr/>
          <p:nvPr/>
        </p:nvSpPr>
        <p:spPr>
          <a:xfrm>
            <a:off x="896112" y="26060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F85199E-E1CE-449D-9FEB-CCCA9BF424D2}"/>
              </a:ext>
            </a:extLst>
          </p:cNvPr>
          <p:cNvSpPr/>
          <p:nvPr/>
        </p:nvSpPr>
        <p:spPr>
          <a:xfrm>
            <a:off x="1828800" y="2606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Loads: Curvature · Entropy · RMSE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PATH GEOMETRY axis</a:t>
            </a:r>
            <a:endParaRPr lang="en-US" sz="9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1E149BB-60A6-0B4B-710A-39A0A07818F0}"/>
              </a:ext>
            </a:extLst>
          </p:cNvPr>
          <p:cNvSpPr/>
          <p:nvPr/>
        </p:nvSpPr>
        <p:spPr>
          <a:xfrm>
            <a:off x="228600" y="3703320"/>
            <a:ext cx="42519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50F8193-C744-3984-A999-DAC361CE9620}"/>
              </a:ext>
            </a:extLst>
          </p:cNvPr>
          <p:cNvSpPr/>
          <p:nvPr/>
        </p:nvSpPr>
        <p:spPr>
          <a:xfrm>
            <a:off x="320040" y="381304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4019F3C-F443-0CCA-4361-B726BF7A2309}"/>
              </a:ext>
            </a:extLst>
          </p:cNvPr>
          <p:cNvSpPr/>
          <p:nvPr/>
        </p:nvSpPr>
        <p:spPr>
          <a:xfrm>
            <a:off x="896112" y="37947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2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2DE379C-D707-0734-28BA-DC1AB1E5D7CF}"/>
              </a:ext>
            </a:extLst>
          </p:cNvPr>
          <p:cNvSpPr/>
          <p:nvPr/>
        </p:nvSpPr>
        <p:spPr>
          <a:xfrm>
            <a:off x="1828800" y="3794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Loads: Early Error · Late Error ratio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TEMPORAL GROWTH axis</a:t>
            </a: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78F0254-4DE2-251B-26A3-163A3DDDB70B}"/>
              </a:ext>
            </a:extLst>
          </p:cNvPr>
          <p:cNvSpPr/>
          <p:nvPr/>
        </p:nvSpPr>
        <p:spPr>
          <a:xfrm>
            <a:off x="228600" y="4782312"/>
            <a:ext cx="42519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20F277D-F386-CD04-F253-6508E458E9AC}"/>
              </a:ext>
            </a:extLst>
          </p:cNvPr>
          <p:cNvSpPr/>
          <p:nvPr/>
        </p:nvSpPr>
        <p:spPr>
          <a:xfrm>
            <a:off x="347472" y="482346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E033B32-49CA-BCDE-539B-00031A58A8A7}"/>
              </a:ext>
            </a:extLst>
          </p:cNvPr>
          <p:cNvSpPr/>
          <p:nvPr/>
        </p:nvSpPr>
        <p:spPr>
          <a:xfrm>
            <a:off x="594360" y="4856953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01 is SPATIALLY ISOLATED in PC1 — not just "the hardest" — a qualitatively different failure mode.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925C873-5D01-7C26-7D70-A3F3CABA3951}"/>
              </a:ext>
            </a:extLst>
          </p:cNvPr>
          <p:cNvSpPr/>
          <p:nvPr/>
        </p:nvSpPr>
        <p:spPr>
          <a:xfrm>
            <a:off x="4663440" y="960120"/>
            <a:ext cx="4251960" cy="32004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FE33381-8FD2-B068-D0DA-AC9E39195937}"/>
              </a:ext>
            </a:extLst>
          </p:cNvPr>
          <p:cNvSpPr/>
          <p:nvPr/>
        </p:nvSpPr>
        <p:spPr>
          <a:xfrm>
            <a:off x="4754880" y="960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Temporal Error Patterns</a:t>
            </a:r>
            <a:endParaRPr lang="en-US" sz="12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869D3E5-C8B1-3002-050F-63FB582424ED}"/>
              </a:ext>
            </a:extLst>
          </p:cNvPr>
          <p:cNvSpPr/>
          <p:nvPr/>
        </p:nvSpPr>
        <p:spPr>
          <a:xfrm>
            <a:off x="4663440" y="1325880"/>
            <a:ext cx="425196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0D8E96F-E0A0-2981-9560-724CE5CE9FD7}"/>
              </a:ext>
            </a:extLst>
          </p:cNvPr>
          <p:cNvSpPr/>
          <p:nvPr/>
        </p:nvSpPr>
        <p:spPr>
          <a:xfrm>
            <a:off x="4663440" y="1325880"/>
            <a:ext cx="4251960" cy="25603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75C9C2C-AEF6-6C0C-F9E4-95CA41C00559}"/>
              </a:ext>
            </a:extLst>
          </p:cNvPr>
          <p:cNvSpPr/>
          <p:nvPr/>
        </p:nvSpPr>
        <p:spPr>
          <a:xfrm>
            <a:off x="4754880" y="132588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1: MONOTONIC GROWTH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BC95BC3-F5F4-A7CB-FD64-38DE4C6CD1BD}"/>
              </a:ext>
            </a:extLst>
          </p:cNvPr>
          <p:cNvSpPr/>
          <p:nvPr/>
        </p:nvSpPr>
        <p:spPr>
          <a:xfrm>
            <a:off x="4754880" y="161848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Sequences: Seq 01, 03, 10</a:t>
            </a:r>
            <a:endParaRPr lang="en-US" sz="10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DC2AC4C-8F98-F6A6-3CE2-EC745CB80F5F}"/>
              </a:ext>
            </a:extLst>
          </p:cNvPr>
          <p:cNvSpPr/>
          <p:nvPr/>
        </p:nvSpPr>
        <p:spPr>
          <a:xfrm>
            <a:off x="4754880" y="1837944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start increases continuously — no return. Algorithm never gets to correct errors. Seq 01 reaches 2,000+ meters.</a:t>
            </a:r>
            <a:endParaRPr lang="en-US" sz="9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7A39611-303A-2511-1735-69068D1433BE}"/>
              </a:ext>
            </a:extLst>
          </p:cNvPr>
          <p:cNvSpPr/>
          <p:nvPr/>
        </p:nvSpPr>
        <p:spPr>
          <a:xfrm>
            <a:off x="4663440" y="2560320"/>
            <a:ext cx="425196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7DF2CF4-D37F-3A8B-96BE-C6785D1FE445}"/>
              </a:ext>
            </a:extLst>
          </p:cNvPr>
          <p:cNvSpPr/>
          <p:nvPr/>
        </p:nvSpPr>
        <p:spPr>
          <a:xfrm>
            <a:off x="4663440" y="2560320"/>
            <a:ext cx="4251960" cy="25603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508D497-3A14-AC27-78BE-CEA707D4273A}"/>
              </a:ext>
            </a:extLst>
          </p:cNvPr>
          <p:cNvSpPr/>
          <p:nvPr/>
        </p:nvSpPr>
        <p:spPr>
          <a:xfrm>
            <a:off x="4754880" y="25603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2: OSCILLATING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D8B0418-E7E4-F541-F62E-031E9BD925E2}"/>
              </a:ext>
            </a:extLst>
          </p:cNvPr>
          <p:cNvSpPr/>
          <p:nvPr/>
        </p:nvSpPr>
        <p:spPr>
          <a:xfrm>
            <a:off x="4754880" y="285292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Sequences: Seq 00, 02, 05, 08, 09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7C23824-9762-AF70-5B26-0C51F001F198}"/>
              </a:ext>
            </a:extLst>
          </p:cNvPr>
          <p:cNvSpPr/>
          <p:nvPr/>
        </p:nvSpPr>
        <p:spPr>
          <a:xfrm>
            <a:off x="4754880" y="3072384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peaks and valleys — complex urban routes with partial loop returns. Error grows, shrinks, grows again, reflecting city road loops.</a:t>
            </a:r>
            <a:endParaRPr lang="en-US" sz="9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8D936B3-8013-E07F-0F63-757D3AF98ED3}"/>
              </a:ext>
            </a:extLst>
          </p:cNvPr>
          <p:cNvSpPr/>
          <p:nvPr/>
        </p:nvSpPr>
        <p:spPr>
          <a:xfrm>
            <a:off x="4663440" y="3785616"/>
            <a:ext cx="425196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E3480F8-FEA4-C551-CA63-0680976D7091}"/>
              </a:ext>
            </a:extLst>
          </p:cNvPr>
          <p:cNvSpPr/>
          <p:nvPr/>
        </p:nvSpPr>
        <p:spPr>
          <a:xfrm>
            <a:off x="4663440" y="3794760"/>
            <a:ext cx="4251960" cy="25603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5616BF1-2A2D-1D27-F03F-1822FAA7BB4E}"/>
              </a:ext>
            </a:extLst>
          </p:cNvPr>
          <p:cNvSpPr/>
          <p:nvPr/>
        </p:nvSpPr>
        <p:spPr>
          <a:xfrm>
            <a:off x="4754880" y="37947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3: V-SHAPE RETURN</a:t>
            </a:r>
            <a:endParaRPr lang="en-US" sz="11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CBE191E-7EE1-6D6B-08A1-3F54D66AF739}"/>
              </a:ext>
            </a:extLst>
          </p:cNvPr>
          <p:cNvSpPr/>
          <p:nvPr/>
        </p:nvSpPr>
        <p:spPr>
          <a:xfrm>
            <a:off x="4754880" y="408736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Sequences: Seq 06, 07</a:t>
            </a:r>
            <a:endParaRPr lang="en-US" sz="10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53A1CD82-51C4-98E3-C094-7FA45055C773}"/>
              </a:ext>
            </a:extLst>
          </p:cNvPr>
          <p:cNvSpPr/>
          <p:nvPr/>
        </p:nvSpPr>
        <p:spPr>
          <a:xfrm>
            <a:off x="4754880" y="4306824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rises then returns near zero — near-complete loop closure. Vehicle returns to its starting area, correcting drift geometrically.</a:t>
            </a:r>
            <a:endParaRPr lang="en-US" sz="9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FF43123-D4FE-341A-6E78-77D9ED20C5DC}"/>
              </a:ext>
            </a:extLst>
          </p:cNvPr>
          <p:cNvSpPr/>
          <p:nvPr/>
        </p:nvSpPr>
        <p:spPr>
          <a:xfrm>
            <a:off x="4663440" y="4856953"/>
            <a:ext cx="42519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4049F7E-C521-7D8D-5837-8B9456F55A69}"/>
              </a:ext>
            </a:extLst>
          </p:cNvPr>
          <p:cNvSpPr/>
          <p:nvPr/>
        </p:nvSpPr>
        <p:spPr>
          <a:xfrm>
            <a:off x="4663440" y="486365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SAME accumulated drift number can arise from all 3 patterns — summary statistics hide this completely.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659142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PATTERNS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discoveries that only visualization could reveal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34340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38912" cy="43891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987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01 is Categorically Hard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" y="14447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94560" y="15361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0.137 (Seq 04)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" y="192024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Hard sequence. 1,980m accumulated drift — caused by straight-line, high-speed highway driving with near-zero curvature (0.005) and no loop closure. Score is 5.8× higher than the easiest. The gap to Seq 02 (0.349) exceeds the entire Medium cluster spread.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" y="2706624"/>
            <a:ext cx="4114800" cy="0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" y="27432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Bar chart immediately shows this — a table buries it among 10 other numbers.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90872" y="987552"/>
            <a:ext cx="434340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90872" y="987552"/>
            <a:ext cx="438912" cy="43891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90872" y="987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93792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Metrics Are Redundant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14447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56832" y="15361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Accum. Drift ↔ Late Error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92024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standard evaluation metrics capture essentially the same phenomenon (Pearson r=0.95). Future benchmarks could safely drop one — reducing researcher burden without any information loss. Direct implication for streamlining KITTI evaluation protocol.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706624"/>
            <a:ext cx="41148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7432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Invisible without the heatmap — the r=0.95 bright red cell is unmistakable.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3054096"/>
            <a:ext cx="434340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" y="3054096"/>
            <a:ext cx="438912" cy="43891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8600" y="30540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3145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≠ Difficulty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38328" y="351129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−0.045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194560" y="36027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0.895 (not significant)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" y="3986784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has near-zero correlation with difficulty score (r=−0.045, p=0.895). Runtime is driven entirely by frame count (r≈0.97). Hard sequences are NOT slower to process — they're harder for the algorithm, not the computer. Computational budgeting by difficulty tier would be misguided.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8328" y="4773168"/>
            <a:ext cx="41148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8328" y="48097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Only the runtime scatter reveals this counterintuitive non-relationship.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90872" y="3054096"/>
            <a:ext cx="434340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90872" y="3054096"/>
            <a:ext cx="438912" cy="438912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90872" y="30540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93792" y="3145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Set is Complete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800600" y="351129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656832" y="36027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 3 PCA dims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3986784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PCA components explain 94.3% of all difficulty variance: PC1=drift (53.9%), PC2=geometry (26.6%), PC3=temporal (13.8%). This validates our 7-metric framework as comprehensive — no important difficulty dimension is missing, and dimensionality reduction is fully justified.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4773168"/>
            <a:ext cx="4114800" cy="0"/>
          </a:xfrm>
          <a:prstGeom prst="line">
            <a:avLst/>
          </a:prstGeom>
          <a:noFill/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00600" y="48097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Only PCA scatter reveals the dimensionality structure of difficulty space.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vs. Visualization — a scientific argument for visual analytics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960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960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33872" y="960120"/>
            <a:ext cx="2999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Visualizations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325880"/>
            <a:ext cx="8686800" cy="56692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3258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sequence is hardest?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82112" y="1325880"/>
            <a:ext cx="2578608" cy="56692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46120" y="13258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Scan 11 numbers manually — 10+ sec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1325880"/>
            <a:ext cx="3127248" cy="56692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33872" y="13258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Fig.11 ranked bar: Seq 01 bar is 5.8× longer — 0.3 sec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82112" y="132588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60720" y="132588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1920240"/>
            <a:ext cx="8686800" cy="56692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19202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any metrics redundant?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82112" y="1920240"/>
            <a:ext cx="2578608" cy="56692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46120" y="19202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Impossible — need 21 Pearson computations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0" y="1920240"/>
            <a:ext cx="3127248" cy="56692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33872" y="19202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Fig.10 heatmap: r=0.95 bright cell — instant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82112" y="192024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60720" y="192024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2514600"/>
            <a:ext cx="8686800" cy="56692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2514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clusters exist?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82112" y="2514600"/>
            <a:ext cx="2578608" cy="56692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46120" y="25146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Impossible — need clustering algorithm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0" y="2514600"/>
            <a:ext cx="3127248" cy="56692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33872" y="251460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Fig.12 PCA: 3 groups spatially separated — visible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251460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760720" y="251460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28600" y="3108960"/>
            <a:ext cx="8686800" cy="56692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040" y="31089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harder = slower to process?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182112" y="3108960"/>
            <a:ext cx="2578608" cy="56692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46120" y="31089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determine from scores alone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3108960"/>
            <a:ext cx="3127248" cy="56692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33872" y="31089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Runtime scatter: flat trend, r≈0 — counterintuitive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310896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760720" y="310896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28600" y="3703320"/>
            <a:ext cx="8686800" cy="56692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0040" y="370332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error grow over time?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182112" y="3703320"/>
            <a:ext cx="2578608" cy="56692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46120" y="37033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Completely invisible in summary stats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760720" y="3703320"/>
            <a:ext cx="3127248" cy="566928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33872" y="3703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Temporal chart: 3 qualitatively different patterns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0332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760720" y="370332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28600" y="4297680"/>
            <a:ext cx="8686800" cy="56692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0040" y="42976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actual path look like?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182112" y="4297680"/>
            <a:ext cx="2578608" cy="56692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246120" y="42976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Completely invisible — no spatial info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760720" y="4297680"/>
            <a:ext cx="3127248" cy="56692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833872" y="42976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Trajectory viewer: geometry and loops legible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182112" y="429768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760720" y="4297680"/>
            <a:ext cx="0" cy="566928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01168" y="4863651"/>
            <a:ext cx="86868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97180" y="4872051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4 of 6 research questions are COMPLETELY UNANSWERABLE from raw tabular data. Visualization is not a presentation choice — it is a scientific necessity.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55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&amp; APPLICATIONS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areas where this work changes practice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0241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10241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10241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353312"/>
            <a:ext cx="283464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46304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" y="14447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Testing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" y="181051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test teams can pre-select sequences by difficulty tier, focusing expensive vehicle hours on Hard sequences that expose algorithmic weaknesses.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1353312"/>
            <a:ext cx="283464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46304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30168" y="14447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233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Learning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9272" y="181051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deep odometry networks ordering KITTI by ascending composite score (0.137→0.793). Easier-first training provably improves convergence.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353312"/>
            <a:ext cx="283464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146304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56248" y="14447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Debugging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45352" y="181051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algorithm fails only on Seq 01, this framework immediately identifies the cause: loop-closure failure on straight-highway sequences. Saves weeks of debugging.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227832"/>
            <a:ext cx="283464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" y="331927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Pruning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368503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r=0.95 finding enables dropping Late Error from future KITTI evaluations, reducing overhead while retaining all discriminative information.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54680" y="3227832"/>
            <a:ext cx="283464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33375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30168" y="331927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2336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19272" y="368503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transfers to EuRoC, TUM-RGBD, Newer College with zero modification — any dataset with ground-truth poses can be profiled identically.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0760" y="3227832"/>
            <a:ext cx="283464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0" y="33375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56248" y="331927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4944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Communication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45352" y="368503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can include a single difficulty radar chart to instantly communicate why their algorithm excels on certain sequences — replacing 3 dense pages of tables.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4206240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 ·  EECE 5642  ·  PROF. Y. RAYMOND FU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N C L U S I O 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585216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transforms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benchmarks into science.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2450592"/>
            <a:ext cx="576072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2578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+ KITTI 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19072" y="257860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all 11 sequences of the world-standard benchmark using real ground-truth poses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98094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Metrics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19072" y="298094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error, drift, temporal dynamics, geometric complexity, and heading diversity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33832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01 Outlier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19072" y="33832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0.793 — 5.8× harder than Seq 04 — 1,980m drift — explained by zero curvature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" y="378561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0.95 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19072" y="378561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Accum. Drift &amp; Late Error are near-redundant — metric pruning is scientifically justified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" y="418795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94.3% PCA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19072" y="41879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metrics span difficulty space — validated by 3-component PCA decomposition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4096512"/>
            <a:ext cx="2331720" cy="822960"/>
          </a:xfrm>
          <a:prstGeom prst="rect">
            <a:avLst/>
          </a:prstGeom>
          <a:solidFill>
            <a:srgbClr val="0D122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4160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5902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3652</TotalTime>
  <Words>3060</Words>
  <Application>Microsoft Office PowerPoint</Application>
  <PresentationFormat>On-screen Show (16:9)</PresentationFormat>
  <Paragraphs>540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Profiling of KITTI Odometry Sequences</dc:title>
  <dc:subject>PptxGenJS Presentation</dc:subject>
  <dc:creator>EECE 5642 Data Visualization</dc:creator>
  <cp:lastModifiedBy>Hamed Ali Syed</cp:lastModifiedBy>
  <cp:revision>3</cp:revision>
  <dcterms:created xsi:type="dcterms:W3CDTF">2026-04-10T18:57:16Z</dcterms:created>
  <dcterms:modified xsi:type="dcterms:W3CDTF">2026-04-17T00:49:36Z</dcterms:modified>
</cp:coreProperties>
</file>